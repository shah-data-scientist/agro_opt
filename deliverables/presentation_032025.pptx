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54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0"/>
            <a:ext cx="4142232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0"/>
            <a:ext cx="13716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AgroOpt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9A825"/>
                </a:solidFill>
              </a:rPr>
              <a:t>Agricultural Yield Prediction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9FBE7"/>
                </a:solidFill>
              </a:rPr>
              <a:t>An end-to-end MLOps platform for smarter farm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4572000" cy="3657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BE7"/>
                </a:solidFill>
              </a:rPr>
              <a:t>Shah Shahul  |  OpenClassrooms ML Engineer  |  March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BB6A"/>
                </a:solidFill>
              </a:rPr>
              <a:t>Crops: Maize  |  Rice  |  Soybean  |  Wheat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3167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1A"/>
                </a:solidFill>
              </a:rPr>
              <a:t>Business Problem &amp; 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280160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3167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1A"/>
                </a:solidFill>
              </a:rPr>
              <a:t>Our Solution — AgroOpt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280160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7928" y="13167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1A"/>
                </a:solidFill>
              </a:rPr>
              <a:t>Data &amp; Methodology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40280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7685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1A"/>
                </a:solidFill>
              </a:rPr>
              <a:t>Feature 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240280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227685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1A"/>
                </a:solidFill>
              </a:rPr>
              <a:t>Model Training &amp; Results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2240280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227685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1A"/>
                </a:solidFill>
              </a:rPr>
              <a:t>Deployment 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200400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23697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1A"/>
                </a:solidFill>
              </a:rPr>
              <a:t>CI/CD &amp; Testing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3200400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323697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1A"/>
                </a:solidFill>
              </a:rPr>
              <a:t>Business Value &amp; ROI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200400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323697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1A"/>
                </a:solidFill>
              </a:rPr>
              <a:t>Recommendations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Business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600" cy="2286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1097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to Plant?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BE7"/>
                </a:solidFill>
              </a:rPr>
              <a:t>Which crop will perform best given local soil, climate &amp; region?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34440"/>
            <a:ext cx="3657600" cy="22860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3657600" cy="109728"/>
          </a:xfrm>
          <a:prstGeom prst="rect">
            <a:avLst/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63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How Much Will I Yield?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BE7"/>
                </a:solidFill>
              </a:rPr>
              <a:t>What is a realistic yield forecast before the season starts?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34440"/>
            <a:ext cx="3657600" cy="228600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3657600" cy="109728"/>
          </a:xfrm>
          <a:prstGeom prst="rect">
            <a:avLst/>
          </a:prstGeom>
          <a:solidFill>
            <a:srgbClr val="FFC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63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How Can I Improve?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116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BE7"/>
                </a:solidFill>
              </a:rPr>
              <a:t>Which management changes (fertilizer, irrigation, timing) maximise output?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03320"/>
            <a:ext cx="11338560" cy="45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7D32"/>
                </a:solidFill>
              </a:rPr>
              <a:t>$200B+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1A"/>
                </a:solidFill>
              </a:rPr>
              <a:t>US crop production annual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840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7D32"/>
                </a:solidFill>
              </a:rPr>
              <a:t>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1A"/>
                </a:solidFill>
              </a:rPr>
              <a:t>of global freshwater used in agriculture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840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7D32"/>
                </a:solidFill>
              </a:rPr>
              <a:t>5-17%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1A"/>
                </a:solidFill>
              </a:rPr>
              <a:t>yield improvement from data-driven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4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AgroOpt Solution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2286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3703320"/>
            <a:ext cx="2743200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3703320"/>
            <a:ext cx="2743200" cy="914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3886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</a:rPr>
              <a:t>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4343400"/>
            <a:ext cx="25420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FBE7"/>
                </a:solidFill>
              </a:rPr>
              <a:t>Forecast yield in hg/ha for any of 4 crops given farm conditions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703320"/>
            <a:ext cx="2743200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3703320"/>
            <a:ext cx="2743200" cy="914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3886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</a:rPr>
              <a:t>Recommend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4343400"/>
            <a:ext cx="25420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FBE7"/>
                </a:solidFill>
              </a:rPr>
              <a:t>Rank all 4 crops and show water/heat stress indices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703320"/>
            <a:ext cx="2743200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703320"/>
            <a:ext cx="2743200" cy="914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3886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</a:rP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343400"/>
            <a:ext cx="25420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FBE7"/>
                </a:solidFill>
              </a:rPr>
              <a:t>Grid-search fertilizer, irrigation &amp; harvest timing to maximise yield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3703320"/>
            <a:ext cx="2743200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3703320"/>
            <a:ext cx="2743200" cy="914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3886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</a:rPr>
              <a:t>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4343400"/>
            <a:ext cx="25420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FBE7"/>
                </a:solidFill>
              </a:rPr>
              <a:t>Every experiment logged to MLflow for full reproducibility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 &amp; Methodology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4008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Data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600200"/>
            <a:ext cx="4572000" cy="5669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0" y="1600200"/>
            <a:ext cx="73152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62763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5E20"/>
                </a:solidFill>
              </a:rPr>
              <a:t>crop_yield.csv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87452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1A"/>
                </a:solidFill>
              </a:rPr>
              <a:t>666,494 farm records (synthetic USA)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2258568"/>
            <a:ext cx="4572000" cy="5669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2258568"/>
            <a:ext cx="73152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28600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5E20"/>
                </a:solidFill>
              </a:rPr>
              <a:t>FAO yield.csv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53288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1A"/>
                </a:solidFill>
              </a:rPr>
              <a:t>Historical USA crop yields (hg/ha)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916936"/>
            <a:ext cx="4572000" cy="5669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0" y="2916936"/>
            <a:ext cx="73152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94436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5E20"/>
                </a:solidFill>
              </a:rPr>
              <a:t>FAO rainfall.csv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91256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1A"/>
                </a:solidFill>
              </a:rPr>
              <a:t>USA annual rainfall (mm)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3575304"/>
            <a:ext cx="4572000" cy="5669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0" y="3575304"/>
            <a:ext cx="73152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3602736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5E20"/>
                </a:solidFill>
              </a:rPr>
              <a:t>FAO temp.csv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849624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1A"/>
                </a:solidFill>
              </a:rPr>
              <a:t>USA temperature (52-state mean)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251960"/>
            <a:ext cx="12188952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348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</a:rPr>
              <a:t>666,494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1A"/>
                </a:solidFill>
              </a:rPr>
              <a:t>Total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4348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1A"/>
                </a:solidFill>
              </a:rPr>
              <a:t>Crops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348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1A"/>
                </a:solidFill>
              </a:rPr>
              <a:t>US Regions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44348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1A"/>
                </a:solidFill>
              </a:rPr>
              <a:t>Missing Values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206240"/>
            <a:ext cx="48463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Engineering — 36 Predictive Features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21792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234440"/>
            <a:ext cx="2468880" cy="1600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67728" y="13441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</a:rPr>
              <a:t>Domain Physics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7728" y="1737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9FBE7"/>
                </a:solidFill>
              </a:rPr>
              <a:t>Water stress, heat stress,
GDD proxy, aridity index,
soil quality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1234440"/>
            <a:ext cx="2468880" cy="16002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19488" y="13441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</a:rPr>
              <a:t>Interaction Terms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19488" y="1737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9FBE7"/>
                </a:solidFill>
              </a:rPr>
              <a:t>rainfall x fertilizer
rainfall x irrigation
GDD x irrigation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063240"/>
            <a:ext cx="2468880" cy="160020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3172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</a:rPr>
              <a:t>Anomaly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3566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9FBE7"/>
                </a:solidFill>
              </a:rPr>
              <a:t>Rainfall anomaly
vs FAO benchmark
Temp anomaly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3063240"/>
            <a:ext cx="2468880" cy="16002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19488" y="3172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</a:rPr>
              <a:t>One-Hot Encoded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3566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9FBE7"/>
                </a:solidFill>
              </a:rPr>
              <a:t>Crop (4), Region (4)
Soil type (6)
Weather (3)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617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B5E20"/>
                </a:solidFill>
              </a:rPr>
              <a:t>Rainfall dominates yield (r=0.764) — consistent with US agricultural science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Training &amp; Results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58368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23760" y="1143000"/>
            <a:ext cx="4480560" cy="3474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0" y="1143000"/>
            <a:ext cx="4480560" cy="1097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1371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</a:rPr>
              <a:t>Winner: Ridge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965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FBE7"/>
                </a:solidFill>
              </a:rPr>
              <a:t>R²: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65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0.9130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514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FBE7"/>
                </a:solidFill>
              </a:rPr>
              <a:t>RMSE: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514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4,989 hg/ha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06323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FBE7"/>
                </a:solidFill>
              </a:rPr>
              <a:t>MAE: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06323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3,976 hg/ha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6118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FBE7"/>
                </a:solidFill>
              </a:rPr>
              <a:t>Train time: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61187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1.4 seconds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6908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9FBE7"/>
                </a:solidFill>
              </a:rPr>
              <a:t>Why Ridge wins: the synthetic dataset has predominantly
linear relationships. All 5 models cluster at R2 ~0.91,
confirming Ridge is the leanest choice.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75488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31A"/>
                </a:solidFill>
              </a:rPr>
              <a:t>MLflow tracks every run: parameters, R2, RMSE, MAE, MAPE, CV-RMSE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MLflow Experiment Tracking</a:t>
            </a:r>
          </a:p>
        </p:txBody>
      </p:sp>
      <p:pic>
        <p:nvPicPr>
          <p:cNvPr id="5" name="Picture 4" descr="mlflow_screenshot_03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4712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1A231A"/>
                </a:solidFill>
              </a:rPr>
              <a:t>5 models tracked — Ridge, Hist GB, LightGBM, XGBoost, Random Forest  |  Metrics: R2, RMSE, MAE, MAPE, CV-RMSE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Deployment Architecture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498079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REST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645920"/>
            <a:ext cx="59436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6642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/health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8928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1A"/>
                </a:solidFill>
              </a:rPr>
              <a:t>Model status, version, feature 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395728"/>
            <a:ext cx="594360" cy="4572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39572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4140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/predict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6426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1A"/>
                </a:solidFill>
              </a:rPr>
              <a:t>Yield forecast for a specific crop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145536"/>
            <a:ext cx="594360" cy="4572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145536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1638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/recommend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3924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1A"/>
                </a:solidFill>
              </a:rPr>
              <a:t>Ranked crop list with stress indices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895344"/>
            <a:ext cx="594360" cy="4572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89534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913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/optimize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1422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1A"/>
                </a:solidFill>
              </a:rPr>
              <a:t>Best mgmt settings to maximise yield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006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A231A"/>
                </a:solidFill>
              </a:rPr>
              <a:t>Docker Compose: two services (api + frontend), non-root user, health checks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CI/CD Pipeline &amp; Testing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114800"/>
            <a:ext cx="3566160" cy="2286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3566160" cy="914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297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A825"/>
                </a:solidFill>
              </a:rPr>
              <a:t>30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Schema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257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FBE7"/>
                </a:solidFill>
              </a:rPr>
              <a:t>Pydantic field bounds,
enums, boundary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114800"/>
            <a:ext cx="3566160" cy="2286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4114800"/>
            <a:ext cx="3566160" cy="914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4297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A825"/>
                </a:solidFill>
              </a:rPr>
              <a:t>40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Engine Unit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5257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FBE7"/>
                </a:solidFill>
              </a:rPr>
              <a:t>FarmConditions, feature
vectors, predictions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114800"/>
            <a:ext cx="3566160" cy="2286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4114800"/>
            <a:ext cx="3566160" cy="914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4297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A825"/>
                </a:solidFill>
              </a:rPr>
              <a:t>36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API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5257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FBE7"/>
                </a:solidFill>
              </a:rPr>
              <a:t>All 4 endpoints,
valid &amp; invalid inputs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4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Business Value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2011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3429000"/>
            <a:ext cx="73152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3429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</a:rPr>
              <a:t>Prediction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3749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9FBE7"/>
                </a:solidFill>
              </a:rPr>
              <a:t>5% error on Maize (highest-volume crop). Reliable enough for planting decisions.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3989952040" y="3429000"/>
            <a:ext cx="73152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3990116632" y="3429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</a:rPr>
              <a:t>Crop 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3990116632" y="3749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9FBE7"/>
                </a:solidFill>
              </a:rPr>
              <a:t>Instant ranking of 4 crops with water &amp; heat stress indices for any location.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389120"/>
            <a:ext cx="73152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4389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</a:rPr>
              <a:t>Yield Optimisation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4709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9FBE7"/>
                </a:solidFill>
              </a:rPr>
              <a:t>Grid search over fertilizer, irrigation and harvest timing returns yield-maximising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3989952040" y="4389120"/>
            <a:ext cx="73152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3990116632" y="4389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</a:rPr>
              <a:t>Full Reproducibility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3990116632" y="4709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9FBE7"/>
                </a:solidFill>
              </a:rPr>
              <a:t>MLflow logs every experiment. Any run can be reproduced from tracked parameters.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349240"/>
            <a:ext cx="73152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5349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</a:rPr>
              <a:t>One-Command 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5669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9FBE7"/>
                </a:solidFill>
              </a:rPr>
              <a:t>Docker Compose brings up the entire platform in seconds on any machine.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3989952040" y="5349240"/>
            <a:ext cx="73152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3990116632" y="5349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</a:rPr>
              <a:t>Continuous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3990116632" y="5669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9FBE7"/>
                </a:solidFill>
              </a:rPr>
              <a:t>106 automated tests + CI pipeline catch regressions before they reach production.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Recommendations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749039" cy="5029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1097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A825"/>
                </a:solidFill>
              </a:rPr>
              <a:t>Short-Term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320040" cy="3200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1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BE7"/>
                </a:solidFill>
              </a:rPr>
              <a:t>Replace synthetic data with real USDA/NASS 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91839"/>
            <a:ext cx="320040" cy="3200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29183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1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3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BE7"/>
                </a:solidFill>
              </a:rPr>
              <a:t>Add prediction intervals (quantile regression)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617720"/>
            <a:ext cx="320040" cy="3200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617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1A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177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BE7"/>
                </a:solidFill>
              </a:rPr>
              <a:t>Reintroduce pesticide feature with real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188720"/>
            <a:ext cx="3749039" cy="50292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188720"/>
            <a:ext cx="3749039" cy="1097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A825"/>
                </a:solidFill>
              </a:rPr>
              <a:t>Medium-Term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1965960"/>
            <a:ext cx="320040" cy="3200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965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1A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BE7"/>
                </a:solidFill>
              </a:rPr>
              <a:t>County-level granularity (beyond 4 regions)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291839"/>
            <a:ext cx="320040" cy="3200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29183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1A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29183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BE7"/>
                </a:solidFill>
              </a:rPr>
              <a:t>NOAA 90-day weather forecast integration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617720"/>
            <a:ext cx="320040" cy="3200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617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1A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6177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BE7"/>
                </a:solidFill>
              </a:rPr>
              <a:t>Automated retraining + drift detection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188720"/>
            <a:ext cx="3749039" cy="502920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188720"/>
            <a:ext cx="3749039" cy="1097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A825"/>
                </a:solidFill>
              </a:rPr>
              <a:t>Long-Term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1965960"/>
            <a:ext cx="320040" cy="3200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1965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1A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BE7"/>
                </a:solidFill>
              </a:rPr>
              <a:t>Satellite imagery (NDVI) as soil health proxy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60" y="3291839"/>
            <a:ext cx="320040" cy="3200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329183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1A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29183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BE7"/>
                </a:solidFill>
              </a:rPr>
              <a:t>Shift objective: max yield -&gt; max profit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4617720"/>
            <a:ext cx="320040" cy="3200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4617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1A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6177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BE7"/>
                </a:solidFill>
              </a:rPr>
              <a:t>Multi-country expansion via FAO global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88952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1752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148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9A825"/>
                </a:solidFill>
              </a:rPr>
              <a:t>AgroOpt — Smarter Decisions, Better Harvests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BE7"/>
                </a:solidFill>
              </a:rPr>
              <a:t>Shah Shahul
OpenClassrooms — Machine Learning Engineer
March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029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6BB6A"/>
                </a:solidFill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5760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BB6A"/>
                </a:solidFill>
              </a:rPr>
              <a:t>github.com/shah-data-scientist/Agro_Opt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